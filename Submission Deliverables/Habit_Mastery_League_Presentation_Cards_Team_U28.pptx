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Figtree"/>
      <p:regular r:id="rId28"/>
      <p:bold r:id="rId29"/>
      <p:italic r:id="rId30"/>
      <p:boldItalic r:id="rId31"/>
    </p:embeddedFont>
    <p:embeddedFont>
      <p:font typeface="Jost Light"/>
      <p:regular r:id="rId32"/>
      <p:bold r:id="rId33"/>
      <p:italic r:id="rId34"/>
      <p:boldItalic r:id="rId35"/>
    </p:embeddedFont>
    <p:embeddedFont>
      <p:font typeface="Figtree Medium"/>
      <p:regular r:id="rId36"/>
      <p:bold r:id="rId37"/>
      <p:italic r:id="rId38"/>
      <p:boldItalic r:id="rId39"/>
    </p:embeddedFont>
    <p:embeddedFont>
      <p:font typeface="Figtree Light"/>
      <p:regular r:id="rId40"/>
      <p:bold r:id="rId41"/>
      <p:italic r:id="rId42"/>
      <p:boldItalic r:id="rId43"/>
    </p:embeddedFont>
    <p:embeddedFont>
      <p:font typeface="Jost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Light-regular.fntdata"/><Relationship Id="rId20" Type="http://schemas.openxmlformats.org/officeDocument/2006/relationships/slide" Target="slides/slide14.xml"/><Relationship Id="rId42" Type="http://schemas.openxmlformats.org/officeDocument/2006/relationships/font" Target="fonts/FigtreeLight-italic.fntdata"/><Relationship Id="rId41" Type="http://schemas.openxmlformats.org/officeDocument/2006/relationships/font" Target="fonts/FigtreeLight-bold.fntdata"/><Relationship Id="rId22" Type="http://schemas.openxmlformats.org/officeDocument/2006/relationships/slide" Target="slides/slide16.xml"/><Relationship Id="rId44" Type="http://schemas.openxmlformats.org/officeDocument/2006/relationships/font" Target="fonts/Jost-regular.fntdata"/><Relationship Id="rId21" Type="http://schemas.openxmlformats.org/officeDocument/2006/relationships/slide" Target="slides/slide15.xml"/><Relationship Id="rId43" Type="http://schemas.openxmlformats.org/officeDocument/2006/relationships/font" Target="fonts/FigtreeLight-boldItalic.fntdata"/><Relationship Id="rId24" Type="http://schemas.openxmlformats.org/officeDocument/2006/relationships/slide" Target="slides/slide18.xml"/><Relationship Id="rId46" Type="http://schemas.openxmlformats.org/officeDocument/2006/relationships/font" Target="fonts/Jost-italic.fntdata"/><Relationship Id="rId23" Type="http://schemas.openxmlformats.org/officeDocument/2006/relationships/slide" Target="slides/slide17.xml"/><Relationship Id="rId45" Type="http://schemas.openxmlformats.org/officeDocument/2006/relationships/font" Target="fonts/Jo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Jost-boldItalic.fntdata"/><Relationship Id="rId28" Type="http://schemas.openxmlformats.org/officeDocument/2006/relationships/font" Target="fonts/Figtree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-boldItalic.fntdata"/><Relationship Id="rId30" Type="http://schemas.openxmlformats.org/officeDocument/2006/relationships/font" Target="fonts/Figtree-italic.fntdata"/><Relationship Id="rId11" Type="http://schemas.openxmlformats.org/officeDocument/2006/relationships/slide" Target="slides/slide5.xml"/><Relationship Id="rId33" Type="http://schemas.openxmlformats.org/officeDocument/2006/relationships/font" Target="fonts/JostLight-bold.fntdata"/><Relationship Id="rId10" Type="http://schemas.openxmlformats.org/officeDocument/2006/relationships/slide" Target="slides/slide4.xml"/><Relationship Id="rId32" Type="http://schemas.openxmlformats.org/officeDocument/2006/relationships/font" Target="fonts/JostLight-regular.fntdata"/><Relationship Id="rId13" Type="http://schemas.openxmlformats.org/officeDocument/2006/relationships/slide" Target="slides/slide7.xml"/><Relationship Id="rId35" Type="http://schemas.openxmlformats.org/officeDocument/2006/relationships/font" Target="fonts/Jost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JostLight-italic.fntdata"/><Relationship Id="rId15" Type="http://schemas.openxmlformats.org/officeDocument/2006/relationships/slide" Target="slides/slide9.xml"/><Relationship Id="rId37" Type="http://schemas.openxmlformats.org/officeDocument/2006/relationships/font" Target="fonts/FigtreeMedium-bold.fntdata"/><Relationship Id="rId14" Type="http://schemas.openxmlformats.org/officeDocument/2006/relationships/slide" Target="slides/slide8.xml"/><Relationship Id="rId36" Type="http://schemas.openxmlformats.org/officeDocument/2006/relationships/font" Target="fonts/FigtreeMedium-regular.fntdata"/><Relationship Id="rId17" Type="http://schemas.openxmlformats.org/officeDocument/2006/relationships/slide" Target="slides/slide11.xml"/><Relationship Id="rId39" Type="http://schemas.openxmlformats.org/officeDocument/2006/relationships/font" Target="fonts/Figtree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Figtree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1e82d9e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d1e82d9e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1e82d9ee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1e82d9e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1e82d9eed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d1e82d9eed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1e82d9eed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d1e82d9eed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1e82d9ee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d1e82d9ee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1e82d9ee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1e82d9ee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d1e82d9ee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d1e82d9ee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1e82d9eed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d1e82d9eed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1e82d9ee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d1e82d9ee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1e82d9eed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1e82d9eed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1e82d9eed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d1e82d9eed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1e82d9eed_6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d1e82d9eed_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1e82d9eed_6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d1e82d9eed_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1e82d9ee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d1e82d9ee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d1e82d9eed_5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d1e82d9eed_5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1e82d9ee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d1e82d9ee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1e82d9eed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1e82d9eed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1e82d9eed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d1e82d9eed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d1e82d9eed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d1e82d9eed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1e82d9eed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d1e82d9eed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d1e82d9eed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d1e82d9eed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6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6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6" name="Google Shape;86;p16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9" name="Google Shape;89;p16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9" name="Google Shape;109;p17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0" name="Google Shape;110;p17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1" name="Google Shape;111;p17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2" name="Google Shape;112;p17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3" name="Google Shape;113;p17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4" name="Google Shape;114;p17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123" name="Google Shape;123;p19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9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20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5" name="Google Shape;135;p20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8" name="Google Shape;138;p21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9" name="Google Shape;139;p21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1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45" name="Google Shape;145;p21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2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4" name="Google Shape;154;p22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3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8" name="Google Shape;168;p24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9" name="Google Shape;169;p24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0" name="Google Shape;170;p24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1" name="Google Shape;171;p24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2" name="Google Shape;172;p24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3" name="Google Shape;173;p24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4" name="Google Shape;174;p24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5" name="Google Shape;175;p24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8" name="Google Shape;178;p25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0" name="Google Shape;180;p25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3" name="Google Shape;183;p25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5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6" name="Google Shape;186;p25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25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5" name="Google Shape;195;p26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6" name="Google Shape;196;p26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9" name="Google Shape;199;p2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1" name="Google Shape;201;p27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2" name="Google Shape;202;p27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27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27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27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7" name="Google Shape;207;p27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8" name="Google Shape;208;p27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0" name="Google Shape;210;p27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1" name="Google Shape;211;p27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8" name="Google Shape;218;p28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9" name="Google Shape;219;p28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0" name="Google Shape;220;p28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1" name="Google Shape;221;p28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5" name="Google Shape;225;p2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7" name="Google Shape;227;p29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9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2" name="Google Shape;232;p29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4" name="Google Shape;234;p29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6" name="Google Shape;236;p29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8" name="Google Shape;238;p29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2" name="Google Shape;242;p3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3" name="Google Shape;243;p30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5" name="Google Shape;245;p30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6" name="Google Shape;246;p30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7" name="Google Shape;247;p30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8" name="Google Shape;248;p30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9" name="Google Shape;249;p30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50" name="Google Shape;250;p30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1" name="Google Shape;251;p30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3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3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7" name="Google Shape;257;p31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31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9" name="Google Shape;259;p31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0" name="Google Shape;260;p31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31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2" name="Google Shape;262;p31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31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4" name="Google Shape;264;p31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5" name="Google Shape;265;p31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8" name="Google Shape;268;p32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69" name="Google Shape;269;p32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1" name="Google Shape;271;p32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2" name="Google Shape;272;p32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3" name="Google Shape;273;p32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4" name="Google Shape;274;p32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5" name="Google Shape;275;p32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6" name="Google Shape;276;p32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7" name="Google Shape;277;p32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8" name="Google Shape;278;p32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9" name="Google Shape;279;p32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0" name="Google Shape;280;p32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1" name="Google Shape;281;p32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82" name="Google Shape;282;p3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3" name="Google Shape;283;p32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4" name="Google Shape;284;p32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7" name="Google Shape;287;p33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89" name="Google Shape;289;p3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0" name="Google Shape;290;p3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2" name="Google Shape;292;p33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3" name="Google Shape;293;p33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4" name="Google Shape;294;p33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5" name="Google Shape;295;p33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33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9" name="Google Shape;299;p3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0" name="Google Shape;300;p3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1" name="Google Shape;301;p3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2" name="Google Shape;302;p34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303" name="Google Shape;303;p34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4" name="Google Shape;304;p34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6" name="Google Shape;306;p34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8" name="Google Shape;308;p34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310" name="Google Shape;310;p34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1" name="Google Shape;311;p34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2" name="Google Shape;312;p34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3" name="Google Shape;313;p34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4" name="Google Shape;314;p34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5" name="Google Shape;315;p34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34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19" name="Google Shape;319;p3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20" name="Google Shape;320;p3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1" name="Google Shape;321;p3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35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4" name="Google Shape;324;p35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6" name="Google Shape;326;p35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9" name="Google Shape;329;p35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1" name="Google Shape;331;p35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2" name="Google Shape;332;p35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6" name="Google Shape;336;p3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7" name="Google Shape;337;p3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9" name="Google Shape;339;p3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6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1" name="Google Shape;341;p36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2" name="Google Shape;342;p36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3" name="Google Shape;343;p36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4" name="Google Shape;344;p36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6" name="Google Shape;346;p36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7" name="Google Shape;347;p36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1" name="Google Shape;351;p3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2" name="Google Shape;352;p3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3" name="Google Shape;353;p37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4" name="Google Shape;354;p37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55" name="Google Shape;355;p37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6" name="Google Shape;356;p37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7" name="Google Shape;357;p37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8" name="Google Shape;358;p37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9" name="Google Shape;359;p37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0" name="Google Shape;360;p37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1" name="Google Shape;361;p37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2" name="Google Shape;362;p37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3" name="Google Shape;363;p37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4" name="Google Shape;364;p37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9" name="Google Shape;369;p37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70" name="Google Shape;370;p37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3" name="Google Shape;373;p38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4" name="Google Shape;374;p3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5" name="Google Shape;375;p3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6" name="Google Shape;376;p38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7" name="Google Shape;377;p38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8" name="Google Shape;378;p38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0" name="Google Shape;400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5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5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5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2" name="Google Shape;422;p5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5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5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5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0" name="Google Shape;430;p5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5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5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5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2" name="Google Shape;4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7" name="Google Shape;457;p5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5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2" name="Google Shape;46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5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HABIT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MASTERY LEAGUE</a:t>
            </a:r>
            <a:endParaRPr/>
          </a:p>
        </p:txBody>
      </p:sp>
      <p:sp>
        <p:nvSpPr>
          <p:cNvPr id="484" name="Google Shape;484;p60"/>
          <p:cNvSpPr txBox="1"/>
          <p:nvPr>
            <p:ph idx="1" type="subTitle"/>
          </p:nvPr>
        </p:nvSpPr>
        <p:spPr>
          <a:xfrm>
            <a:off x="228225" y="129820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App Development</a:t>
            </a:r>
            <a:endParaRPr/>
          </a:p>
        </p:txBody>
      </p:sp>
      <p:sp>
        <p:nvSpPr>
          <p:cNvPr id="485" name="Google Shape;485;p60"/>
          <p:cNvSpPr txBox="1"/>
          <p:nvPr>
            <p:ph idx="2" type="subTitle"/>
          </p:nvPr>
        </p:nvSpPr>
        <p:spPr>
          <a:xfrm>
            <a:off x="228225" y="107945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Trajuan Smith &amp; Raiyan Haque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this project about?</a:t>
            </a:r>
            <a:endParaRPr/>
          </a:p>
        </p:txBody>
      </p:sp>
      <p:sp>
        <p:nvSpPr>
          <p:cNvPr id="491" name="Google Shape;491;p61"/>
          <p:cNvSpPr txBox="1"/>
          <p:nvPr>
            <p:ph idx="18" type="title"/>
          </p:nvPr>
        </p:nvSpPr>
        <p:spPr>
          <a:xfrm>
            <a:off x="228600" y="18954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it for?</a:t>
            </a:r>
            <a:endParaRPr/>
          </a:p>
        </p:txBody>
      </p:sp>
      <p:sp>
        <p:nvSpPr>
          <p:cNvPr id="492" name="Google Shape;492;p61"/>
          <p:cNvSpPr txBox="1"/>
          <p:nvPr>
            <p:ph idx="18" type="title"/>
          </p:nvPr>
        </p:nvSpPr>
        <p:spPr>
          <a:xfrm>
            <a:off x="230100" y="3243900"/>
            <a:ext cx="58491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aim to solve?</a:t>
            </a:r>
            <a:endParaRPr/>
          </a:p>
        </p:txBody>
      </p:sp>
      <p:sp>
        <p:nvSpPr>
          <p:cNvPr id="493" name="Google Shape;493;p61"/>
          <p:cNvSpPr txBox="1"/>
          <p:nvPr/>
        </p:nvSpPr>
        <p:spPr>
          <a:xfrm>
            <a:off x="228600" y="918125"/>
            <a:ext cx="45990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This project is a habit tracking mobile application designed to help users, especially students, build and maintain consistent daily routines.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4" name="Google Shape;494;p61"/>
          <p:cNvSpPr txBox="1"/>
          <p:nvPr/>
        </p:nvSpPr>
        <p:spPr>
          <a:xfrm>
            <a:off x="228600" y="2304575"/>
            <a:ext cx="46857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It is aimed at students and individuals who struggle with staying consistent in habits like studying, exercising, or personal development.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5" name="Google Shape;495;p61"/>
          <p:cNvSpPr txBox="1"/>
          <p:nvPr/>
        </p:nvSpPr>
        <p:spPr>
          <a:xfrm>
            <a:off x="228600" y="3592325"/>
            <a:ext cx="4729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app provides a structured way to track habits, maintain streaks, and visualize progress, helping users stay accountable and motivated over time.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our app solve this problem?</a:t>
            </a:r>
            <a:endParaRPr/>
          </a:p>
        </p:txBody>
      </p:sp>
      <p:sp>
        <p:nvSpPr>
          <p:cNvPr id="501" name="Google Shape;501;p62"/>
          <p:cNvSpPr txBox="1"/>
          <p:nvPr>
            <p:ph idx="18" type="title"/>
          </p:nvPr>
        </p:nvSpPr>
        <p:spPr>
          <a:xfrm>
            <a:off x="250500" y="1470875"/>
            <a:ext cx="57405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users stay consistent?</a:t>
            </a:r>
            <a:endParaRPr/>
          </a:p>
        </p:txBody>
      </p:sp>
      <p:sp>
        <p:nvSpPr>
          <p:cNvPr id="502" name="Google Shape;502;p62"/>
          <p:cNvSpPr txBox="1"/>
          <p:nvPr>
            <p:ph idx="18" type="title"/>
          </p:nvPr>
        </p:nvSpPr>
        <p:spPr>
          <a:xfrm>
            <a:off x="250500" y="2393075"/>
            <a:ext cx="58491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users understand their progress?</a:t>
            </a:r>
            <a:endParaRPr/>
          </a:p>
        </p:txBody>
      </p:sp>
      <p:sp>
        <p:nvSpPr>
          <p:cNvPr id="503" name="Google Shape;503;p62"/>
          <p:cNvSpPr txBox="1"/>
          <p:nvPr/>
        </p:nvSpPr>
        <p:spPr>
          <a:xfrm>
            <a:off x="228600" y="918125"/>
            <a:ext cx="45990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app provides a structured habit tracking system where users can create and manage their daily routines in one centralized place.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04" name="Google Shape;504;p62"/>
          <p:cNvSpPr txBox="1"/>
          <p:nvPr/>
        </p:nvSpPr>
        <p:spPr>
          <a:xfrm>
            <a:off x="228600" y="1801500"/>
            <a:ext cx="47295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It uses streak tracking and milestone-based progress to encourage users to maintain consistency and build long-term habits over time.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05" name="Google Shape;505;p62"/>
          <p:cNvSpPr txBox="1"/>
          <p:nvPr/>
        </p:nvSpPr>
        <p:spPr>
          <a:xfrm>
            <a:off x="294300" y="2729222"/>
            <a:ext cx="47295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app offers insights and statistics, allowing users to visualize their performance through trends, completion data, and habit analytics.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06" name="Google Shape;506;p62"/>
          <p:cNvSpPr txBox="1"/>
          <p:nvPr>
            <p:ph idx="18" type="title"/>
          </p:nvPr>
        </p:nvSpPr>
        <p:spPr>
          <a:xfrm>
            <a:off x="294300" y="3330938"/>
            <a:ext cx="58491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keep users motivated?</a:t>
            </a:r>
            <a:endParaRPr/>
          </a:p>
        </p:txBody>
      </p:sp>
      <p:sp>
        <p:nvSpPr>
          <p:cNvPr id="507" name="Google Shape;507;p62"/>
          <p:cNvSpPr txBox="1"/>
          <p:nvPr/>
        </p:nvSpPr>
        <p:spPr>
          <a:xfrm>
            <a:off x="294300" y="3656938"/>
            <a:ext cx="4729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Motivational feedback, reminders, and progress-based rewards help users stay engaged and accountable throughout their habit-building journey.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3"/>
          <p:cNvSpPr/>
          <p:nvPr/>
        </p:nvSpPr>
        <p:spPr>
          <a:xfrm>
            <a:off x="7234630" y="1911036"/>
            <a:ext cx="1324200" cy="3001200"/>
          </a:xfrm>
          <a:prstGeom prst="roundRect">
            <a:avLst>
              <a:gd fmla="val 7120" name="adj"/>
            </a:avLst>
          </a:prstGeom>
          <a:solidFill>
            <a:schemeClr val="lt1"/>
          </a:solidFill>
          <a:ln>
            <a:noFill/>
          </a:ln>
          <a:effectLst>
            <a:outerShdw blurRad="176193" rotWithShape="0" algn="bl" dir="5400000" dist="19577">
              <a:schemeClr val="dk2">
                <a:alpha val="40000"/>
              </a:schemeClr>
            </a:outerShdw>
          </a:effectLst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3" name="Google Shape;513;p63"/>
          <p:cNvSpPr/>
          <p:nvPr/>
        </p:nvSpPr>
        <p:spPr>
          <a:xfrm>
            <a:off x="3846841" y="1911036"/>
            <a:ext cx="1324200" cy="3001200"/>
          </a:xfrm>
          <a:prstGeom prst="roundRect">
            <a:avLst>
              <a:gd fmla="val 7120" name="adj"/>
            </a:avLst>
          </a:prstGeom>
          <a:solidFill>
            <a:schemeClr val="lt1"/>
          </a:solidFill>
          <a:ln>
            <a:noFill/>
          </a:ln>
          <a:effectLst>
            <a:outerShdw blurRad="176193" rotWithShape="0" algn="bl" dir="5400000" dist="19577">
              <a:schemeClr val="dk2">
                <a:alpha val="40000"/>
              </a:schemeClr>
            </a:outerShdw>
          </a:effectLst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4" name="Google Shape;514;p63"/>
          <p:cNvSpPr/>
          <p:nvPr/>
        </p:nvSpPr>
        <p:spPr>
          <a:xfrm>
            <a:off x="5549982" y="1911036"/>
            <a:ext cx="1323600" cy="30012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6193" rotWithShape="0" algn="bl" dir="5400000" dist="19577">
              <a:schemeClr val="lt2">
                <a:alpha val="64999"/>
              </a:schemeClr>
            </a:outerShdw>
          </a:effectLst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5" name="Google Shape;515;p63"/>
          <p:cNvSpPr/>
          <p:nvPr/>
        </p:nvSpPr>
        <p:spPr>
          <a:xfrm>
            <a:off x="2124146" y="1911036"/>
            <a:ext cx="1324200" cy="3001200"/>
          </a:xfrm>
          <a:prstGeom prst="roundRect">
            <a:avLst>
              <a:gd fmla="val 7120" name="adj"/>
            </a:avLst>
          </a:prstGeom>
          <a:solidFill>
            <a:schemeClr val="lt1"/>
          </a:solidFill>
          <a:ln>
            <a:noFill/>
          </a:ln>
          <a:effectLst>
            <a:outerShdw blurRad="176193" rotWithShape="0" algn="bl" dir="5400000" dist="19577">
              <a:schemeClr val="dk2">
                <a:alpha val="40000"/>
              </a:schemeClr>
            </a:outerShdw>
          </a:effectLst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6" name="Google Shape;516;p63"/>
          <p:cNvSpPr/>
          <p:nvPr/>
        </p:nvSpPr>
        <p:spPr>
          <a:xfrm>
            <a:off x="402850" y="1911036"/>
            <a:ext cx="1323600" cy="30012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6193" rotWithShape="0" algn="bl" dir="5400000" dist="19577">
              <a:schemeClr val="lt2">
                <a:alpha val="64999"/>
              </a:schemeClr>
            </a:outerShdw>
          </a:effectLst>
        </p:spPr>
        <p:txBody>
          <a:bodyPr anchorCtr="0" anchor="ctr" bIns="93950" lIns="93950" spcFirstLastPara="1" rIns="93950" wrap="square" tIns="9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17" name="Google Shape;517;p63"/>
          <p:cNvSpPr txBox="1"/>
          <p:nvPr>
            <p:ph idx="5" type="title"/>
          </p:nvPr>
        </p:nvSpPr>
        <p:spPr>
          <a:xfrm>
            <a:off x="487298" y="4001610"/>
            <a:ext cx="1259100" cy="2133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4"/>
              <a:t>Allows users to safely remove habits with a confirmation prompt to prevent accidental actions.</a:t>
            </a:r>
            <a:endParaRPr sz="924"/>
          </a:p>
        </p:txBody>
      </p:sp>
      <p:sp>
        <p:nvSpPr>
          <p:cNvPr id="518" name="Google Shape;518;p63"/>
          <p:cNvSpPr txBox="1"/>
          <p:nvPr>
            <p:ph idx="6" type="title"/>
          </p:nvPr>
        </p:nvSpPr>
        <p:spPr>
          <a:xfrm>
            <a:off x="2209070" y="3553344"/>
            <a:ext cx="1259100" cy="1770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1027"/>
              <a:t>Daily Habit Dashboard</a:t>
            </a:r>
            <a:endParaRPr sz="1027"/>
          </a:p>
        </p:txBody>
      </p:sp>
      <p:sp>
        <p:nvSpPr>
          <p:cNvPr id="519" name="Google Shape;519;p63"/>
          <p:cNvSpPr txBox="1"/>
          <p:nvPr>
            <p:ph idx="7" type="title"/>
          </p:nvPr>
        </p:nvSpPr>
        <p:spPr>
          <a:xfrm>
            <a:off x="2209070" y="4001610"/>
            <a:ext cx="1259100" cy="2133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924"/>
              <a:t>Displays all habits with streak tracking and enables quick daily completion with one tap.</a:t>
            </a:r>
            <a:endParaRPr sz="924"/>
          </a:p>
        </p:txBody>
      </p:sp>
      <p:sp>
        <p:nvSpPr>
          <p:cNvPr id="520" name="Google Shape;520;p63"/>
          <p:cNvSpPr txBox="1"/>
          <p:nvPr>
            <p:ph idx="13" type="title"/>
          </p:nvPr>
        </p:nvSpPr>
        <p:spPr>
          <a:xfrm>
            <a:off x="3929782" y="3553344"/>
            <a:ext cx="1259100" cy="1770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1027"/>
              <a:t>Detailed Habit Insights</a:t>
            </a:r>
            <a:endParaRPr sz="1027"/>
          </a:p>
        </p:txBody>
      </p:sp>
      <p:sp>
        <p:nvSpPr>
          <p:cNvPr id="521" name="Google Shape;521;p63"/>
          <p:cNvSpPr txBox="1"/>
          <p:nvPr>
            <p:ph idx="14" type="title"/>
          </p:nvPr>
        </p:nvSpPr>
        <p:spPr>
          <a:xfrm>
            <a:off x="3929782" y="4001610"/>
            <a:ext cx="1259100" cy="2133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924"/>
              <a:t>Shows in-depth information including streaks, completion heatmaps, and milestone progress.</a:t>
            </a:r>
            <a:endParaRPr sz="924"/>
          </a:p>
        </p:txBody>
      </p:sp>
      <p:sp>
        <p:nvSpPr>
          <p:cNvPr id="522" name="Google Shape;522;p63"/>
          <p:cNvSpPr txBox="1"/>
          <p:nvPr>
            <p:ph idx="15" type="title"/>
          </p:nvPr>
        </p:nvSpPr>
        <p:spPr>
          <a:xfrm>
            <a:off x="5625545" y="3498044"/>
            <a:ext cx="1259100" cy="1770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1027"/>
              <a:t>Analytics &amp; Performance Tracking</a:t>
            </a:r>
            <a:endParaRPr sz="1027"/>
          </a:p>
        </p:txBody>
      </p:sp>
      <p:sp>
        <p:nvSpPr>
          <p:cNvPr id="523" name="Google Shape;523;p63"/>
          <p:cNvSpPr txBox="1"/>
          <p:nvPr>
            <p:ph idx="16" type="title"/>
          </p:nvPr>
        </p:nvSpPr>
        <p:spPr>
          <a:xfrm>
            <a:off x="5626758" y="4001610"/>
            <a:ext cx="1259100" cy="2133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924"/>
              <a:t>Provides visual insights such as weekly trends, leaderboards, and habit performance metrics.</a:t>
            </a:r>
            <a:endParaRPr sz="924"/>
          </a:p>
        </p:txBody>
      </p:sp>
      <p:sp>
        <p:nvSpPr>
          <p:cNvPr id="524" name="Google Shape;524;p63"/>
          <p:cNvSpPr txBox="1"/>
          <p:nvPr>
            <p:ph idx="17" type="title"/>
          </p:nvPr>
        </p:nvSpPr>
        <p:spPr>
          <a:xfrm>
            <a:off x="7321309" y="3553344"/>
            <a:ext cx="1259100" cy="1770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1027"/>
              <a:t>Customization &amp; Preferences</a:t>
            </a:r>
            <a:endParaRPr sz="1027"/>
          </a:p>
        </p:txBody>
      </p:sp>
      <p:sp>
        <p:nvSpPr>
          <p:cNvPr id="525" name="Google Shape;525;p63"/>
          <p:cNvSpPr txBox="1"/>
          <p:nvPr>
            <p:ph idx="18" type="title"/>
          </p:nvPr>
        </p:nvSpPr>
        <p:spPr>
          <a:xfrm>
            <a:off x="7321309" y="4001610"/>
            <a:ext cx="1259100" cy="2133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"/>
              <a:buNone/>
            </a:pPr>
            <a:r>
              <a:rPr lang="en" sz="924"/>
              <a:t>Allows users to personalize notifications, themes, and habit-related settings.</a:t>
            </a:r>
            <a:endParaRPr sz="924"/>
          </a:p>
        </p:txBody>
      </p:sp>
      <p:sp>
        <p:nvSpPr>
          <p:cNvPr id="526" name="Google Shape;526;p63"/>
          <p:cNvSpPr txBox="1"/>
          <p:nvPr>
            <p:ph idx="4" type="title"/>
          </p:nvPr>
        </p:nvSpPr>
        <p:spPr>
          <a:xfrm>
            <a:off x="487298" y="3553344"/>
            <a:ext cx="1259100" cy="177000"/>
          </a:xfrm>
          <a:prstGeom prst="rect">
            <a:avLst/>
          </a:prstGeom>
        </p:spPr>
        <p:txBody>
          <a:bodyPr anchorCtr="0" anchor="t" bIns="93950" lIns="93950" spcFirstLastPara="1" rIns="93950" wrap="square" tIns="9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7"/>
              <a:t>Habit Deletion Flow</a:t>
            </a:r>
            <a:endParaRPr sz="1027"/>
          </a:p>
        </p:txBody>
      </p:sp>
      <p:pic>
        <p:nvPicPr>
          <p:cNvPr id="527" name="Google Shape;527;p63" title="Pic8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734" l="0" r="0" t="4743"/>
          <a:stretch/>
        </p:blipFill>
        <p:spPr>
          <a:xfrm>
            <a:off x="2078425" y="506007"/>
            <a:ext cx="1508700" cy="2849400"/>
          </a:xfrm>
          <a:prstGeom prst="roundRect">
            <a:avLst>
              <a:gd fmla="val 5346" name="adj"/>
            </a:avLst>
          </a:prstGeom>
          <a:noFill/>
          <a:ln>
            <a:noFill/>
          </a:ln>
        </p:spPr>
      </p:pic>
      <p:pic>
        <p:nvPicPr>
          <p:cNvPr id="528" name="Google Shape;528;p63" title="Pic2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437" l="0" r="0" t="5437"/>
          <a:stretch/>
        </p:blipFill>
        <p:spPr>
          <a:xfrm>
            <a:off x="3754075" y="506132"/>
            <a:ext cx="1508700" cy="2849400"/>
          </a:xfrm>
          <a:prstGeom prst="roundRect">
            <a:avLst>
              <a:gd fmla="val 5823" name="adj"/>
            </a:avLst>
          </a:prstGeom>
          <a:noFill/>
          <a:ln>
            <a:noFill/>
          </a:ln>
        </p:spPr>
      </p:pic>
      <p:pic>
        <p:nvPicPr>
          <p:cNvPr id="529" name="Google Shape;529;p63" title="Pic9.pn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5349" l="0" r="0" t="5349"/>
          <a:stretch/>
        </p:blipFill>
        <p:spPr>
          <a:xfrm>
            <a:off x="7050675" y="506132"/>
            <a:ext cx="1508700" cy="2849400"/>
          </a:xfrm>
          <a:prstGeom prst="roundRect">
            <a:avLst>
              <a:gd fmla="val 6994" name="adj"/>
            </a:avLst>
          </a:prstGeom>
          <a:noFill/>
          <a:ln>
            <a:noFill/>
          </a:ln>
        </p:spPr>
      </p:pic>
      <p:pic>
        <p:nvPicPr>
          <p:cNvPr id="530" name="Google Shape;530;p63" title="Pic6.png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5445" l="0" r="0" t="5445"/>
          <a:stretch/>
        </p:blipFill>
        <p:spPr>
          <a:xfrm>
            <a:off x="5411075" y="504781"/>
            <a:ext cx="1508700" cy="2849400"/>
          </a:xfrm>
          <a:prstGeom prst="roundRect">
            <a:avLst>
              <a:gd fmla="val 7221" name="adj"/>
            </a:avLst>
          </a:prstGeom>
          <a:noFill/>
          <a:ln>
            <a:noFill/>
          </a:ln>
        </p:spPr>
      </p:pic>
      <p:pic>
        <p:nvPicPr>
          <p:cNvPr id="531" name="Google Shape;531;p63" title="Pic4.png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5453" l="0" r="0" t="5453"/>
          <a:stretch/>
        </p:blipFill>
        <p:spPr>
          <a:xfrm>
            <a:off x="402851" y="457202"/>
            <a:ext cx="1508700" cy="2898600"/>
          </a:xfrm>
          <a:prstGeom prst="roundRect">
            <a:avLst>
              <a:gd fmla="val 689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4"/>
          <p:cNvSpPr/>
          <p:nvPr/>
        </p:nvSpPr>
        <p:spPr>
          <a:xfrm>
            <a:off x="5887550" y="571750"/>
            <a:ext cx="1720200" cy="43926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266900" rotWithShape="0" algn="bl" dir="5400000" dist="29656">
              <a:schemeClr val="lt2">
                <a:alpha val="64999"/>
              </a:schemeClr>
            </a:outerShdw>
          </a:effectLst>
        </p:spPr>
        <p:txBody>
          <a:bodyPr anchorCtr="0" anchor="ctr" bIns="142325" lIns="142325" spcFirstLastPara="1" rIns="142325" wrap="square" tIns="142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79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7" name="Google Shape;537;p64"/>
          <p:cNvSpPr/>
          <p:nvPr/>
        </p:nvSpPr>
        <p:spPr>
          <a:xfrm>
            <a:off x="2294375" y="457200"/>
            <a:ext cx="1720200" cy="43926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266900" rotWithShape="0" algn="bl" dir="5400000" dist="29656">
              <a:schemeClr val="lt2">
                <a:alpha val="64999"/>
              </a:schemeClr>
            </a:outerShdw>
          </a:effectLst>
        </p:spPr>
        <p:txBody>
          <a:bodyPr anchorCtr="0" anchor="ctr" bIns="142325" lIns="142325" spcFirstLastPara="1" rIns="142325" wrap="square" tIns="142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79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8" name="Google Shape;538;p64"/>
          <p:cNvSpPr txBox="1"/>
          <p:nvPr>
            <p:ph idx="6" type="title"/>
          </p:nvPr>
        </p:nvSpPr>
        <p:spPr>
          <a:xfrm>
            <a:off x="6077650" y="4097875"/>
            <a:ext cx="1969500" cy="706500"/>
          </a:xfrm>
          <a:prstGeom prst="rect">
            <a:avLst/>
          </a:prstGeom>
        </p:spPr>
        <p:txBody>
          <a:bodyPr anchorCtr="0" anchor="t" bIns="144750" lIns="144750" spcFirstLastPara="1" rIns="144750" wrap="square" tIns="144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42"/>
              <a:buNone/>
            </a:pPr>
            <a:r>
              <a:rPr lang="en" sz="1583"/>
              <a:t>Central DashBoard</a:t>
            </a:r>
            <a:endParaRPr sz="1583"/>
          </a:p>
        </p:txBody>
      </p:sp>
      <p:sp>
        <p:nvSpPr>
          <p:cNvPr id="539" name="Google Shape;539;p64"/>
          <p:cNvSpPr txBox="1"/>
          <p:nvPr>
            <p:ph idx="4" type="title"/>
          </p:nvPr>
        </p:nvSpPr>
        <p:spPr>
          <a:xfrm>
            <a:off x="2249800" y="4257850"/>
            <a:ext cx="1907400" cy="706500"/>
          </a:xfrm>
          <a:prstGeom prst="rect">
            <a:avLst/>
          </a:prstGeom>
        </p:spPr>
        <p:txBody>
          <a:bodyPr anchorCtr="0" anchor="t" bIns="142325" lIns="142325" spcFirstLastPara="1" rIns="142325" wrap="square" tIns="14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6"/>
              <a:t>Splash Screen</a:t>
            </a:r>
            <a:endParaRPr sz="1556"/>
          </a:p>
        </p:txBody>
      </p:sp>
      <p:pic>
        <p:nvPicPr>
          <p:cNvPr id="540" name="Google Shape;54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7550" y="666559"/>
            <a:ext cx="1720326" cy="3431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4487" y="495651"/>
            <a:ext cx="1720325" cy="368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/>
          <p:nvPr>
            <p:ph idx="1" type="subTitle"/>
          </p:nvPr>
        </p:nvSpPr>
        <p:spPr>
          <a:xfrm>
            <a:off x="811975" y="1518600"/>
            <a:ext cx="5930700" cy="18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UI Layer</a:t>
            </a:r>
            <a:endParaRPr b="1" sz="20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/>
              <a:t>Screens and widgets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000"/>
              <a:t>Repository Layer</a:t>
            </a:r>
            <a:endParaRPr b="1" sz="20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/>
              <a:t>Handles app logic and data flow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Database Layer (SQLite)</a:t>
            </a:r>
            <a:endParaRPr b="1" sz="20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/>
              <a:t>Stores habit data and completion logs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Preferences Layer (SharedPreferences)</a:t>
            </a:r>
            <a:endParaRPr b="1" sz="2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/>
              <a:t>Persists user preferences and app settings</a:t>
            </a:r>
            <a:endParaRPr sz="15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  <p:sp>
        <p:nvSpPr>
          <p:cNvPr id="547" name="Google Shape;547;p65"/>
          <p:cNvSpPr txBox="1"/>
          <p:nvPr>
            <p:ph idx="3" type="title"/>
          </p:nvPr>
        </p:nvSpPr>
        <p:spPr>
          <a:xfrm>
            <a:off x="484200" y="822150"/>
            <a:ext cx="8806200" cy="5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Architecture (Layered Design)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Design (SQLite)</a:t>
            </a:r>
            <a:endParaRPr/>
          </a:p>
        </p:txBody>
      </p:sp>
      <p:sp>
        <p:nvSpPr>
          <p:cNvPr id="553" name="Google Shape;553;p66"/>
          <p:cNvSpPr txBox="1"/>
          <p:nvPr>
            <p:ph idx="1" type="subTitle"/>
          </p:nvPr>
        </p:nvSpPr>
        <p:spPr>
          <a:xfrm>
            <a:off x="383075" y="1063225"/>
            <a:ext cx="5930700" cy="37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Tables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Habit</a:t>
            </a:r>
            <a:r>
              <a:rPr b="1" lang="en" sz="1500"/>
              <a:t>s</a:t>
            </a:r>
            <a:r>
              <a:rPr lang="en" sz="1500"/>
              <a:t>: </a:t>
            </a:r>
            <a:endParaRPr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Stores habit configuration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id (Primary Key)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name, category, frequency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difficulty, milestone_goal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Habit_logs:</a:t>
            </a:r>
            <a:endParaRPr b="1"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Stores daily completion data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id (Primary Key)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habit_id (Foreign Key)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log_date, completed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Key Design Decisions:</a:t>
            </a:r>
            <a:endParaRPr b="1"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Foreign key links logs → habits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UNIQUE(habit_id, log_date) prevents duplicates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Boolean stored as integers (0 or 1)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7"/>
          <p:cNvSpPr txBox="1"/>
          <p:nvPr>
            <p:ph idx="3" type="title"/>
          </p:nvPr>
        </p:nvSpPr>
        <p:spPr>
          <a:xfrm>
            <a:off x="141150" y="18015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Preferences (SharedPreferences)</a:t>
            </a:r>
            <a:endParaRPr sz="2400"/>
          </a:p>
        </p:txBody>
      </p:sp>
      <p:sp>
        <p:nvSpPr>
          <p:cNvPr id="559" name="Google Shape;559;p67"/>
          <p:cNvSpPr txBox="1"/>
          <p:nvPr>
            <p:ph idx="1" type="subTitle"/>
          </p:nvPr>
        </p:nvSpPr>
        <p:spPr>
          <a:xfrm>
            <a:off x="4102950" y="1631400"/>
            <a:ext cx="4089000" cy="17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Stored Preferences: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/>
              <a:t>Username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/>
              <a:t>Dark mode setting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/>
              <a:t>Notification preferences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/>
              <a:t>Default reminder time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/>
              <a:t>Habit buddy &amp; reflection settings</a:t>
            </a:r>
            <a:endParaRPr sz="1800"/>
          </a:p>
        </p:txBody>
      </p:sp>
      <p:sp>
        <p:nvSpPr>
          <p:cNvPr id="560" name="Google Shape;560;p67"/>
          <p:cNvSpPr txBox="1"/>
          <p:nvPr>
            <p:ph idx="1" type="subTitle"/>
          </p:nvPr>
        </p:nvSpPr>
        <p:spPr>
          <a:xfrm>
            <a:off x="3067050" y="3916375"/>
            <a:ext cx="5734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Key Idea</a:t>
            </a:r>
            <a:r>
              <a:rPr lang="en" sz="1800"/>
              <a:t>: Data persists locally across app sessions</a:t>
            </a:r>
            <a:endParaRPr sz="1800"/>
          </a:p>
        </p:txBody>
      </p:sp>
      <p:sp>
        <p:nvSpPr>
          <p:cNvPr id="561" name="Google Shape;561;p67"/>
          <p:cNvSpPr/>
          <p:nvPr/>
        </p:nvSpPr>
        <p:spPr>
          <a:xfrm>
            <a:off x="4071175" y="1217725"/>
            <a:ext cx="453900" cy="363600"/>
          </a:xfrm>
          <a:prstGeom prst="ellipse">
            <a:avLst/>
          </a:prstGeom>
          <a:solidFill>
            <a:srgbClr val="B63CD1"/>
          </a:solidFill>
          <a:ln cap="flat" cmpd="sng" w="9525">
            <a:solidFill>
              <a:srgbClr val="B63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8"/>
          <p:cNvSpPr/>
          <p:nvPr/>
        </p:nvSpPr>
        <p:spPr>
          <a:xfrm>
            <a:off x="4071175" y="1217725"/>
            <a:ext cx="453900" cy="363600"/>
          </a:xfrm>
          <a:prstGeom prst="ellipse">
            <a:avLst/>
          </a:prstGeom>
          <a:solidFill>
            <a:srgbClr val="B63CD1"/>
          </a:solidFill>
          <a:ln cap="flat" cmpd="sng" w="9525">
            <a:solidFill>
              <a:srgbClr val="B63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67" name="Google Shape;567;p68"/>
          <p:cNvSpPr txBox="1"/>
          <p:nvPr>
            <p:ph idx="1" type="subTitle"/>
          </p:nvPr>
        </p:nvSpPr>
        <p:spPr>
          <a:xfrm>
            <a:off x="4080825" y="823925"/>
            <a:ext cx="4089000" cy="23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Dashboard Overview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Main Features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Displays all daily habits in one place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Shows real-time streak progress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One-tap habit completion system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Quick access to add new habits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Motivational message to encourage consistency</a:t>
            </a:r>
            <a:endParaRPr sz="1800"/>
          </a:p>
        </p:txBody>
      </p:sp>
      <p:sp>
        <p:nvSpPr>
          <p:cNvPr id="568" name="Google Shape;568;p68"/>
          <p:cNvSpPr txBox="1"/>
          <p:nvPr>
            <p:ph idx="1" type="subTitle"/>
          </p:nvPr>
        </p:nvSpPr>
        <p:spPr>
          <a:xfrm>
            <a:off x="3258225" y="3477000"/>
            <a:ext cx="5734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Centralized dashboard for quick tracking and daily engagement</a:t>
            </a:r>
            <a:endParaRPr sz="1800"/>
          </a:p>
        </p:txBody>
      </p:sp>
      <p:pic>
        <p:nvPicPr>
          <p:cNvPr id="569" name="Google Shape;56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75" y="0"/>
            <a:ext cx="242165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8"/>
          <p:cNvSpPr/>
          <p:nvPr/>
        </p:nvSpPr>
        <p:spPr>
          <a:xfrm>
            <a:off x="2814925" y="0"/>
            <a:ext cx="339900" cy="5143500"/>
          </a:xfrm>
          <a:prstGeom prst="rect">
            <a:avLst/>
          </a:prstGeom>
          <a:solidFill>
            <a:srgbClr val="0A1021"/>
          </a:solidFill>
          <a:ln cap="flat" cmpd="sng" w="9525">
            <a:solidFill>
              <a:srgbClr val="0A1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71" name="Google Shape;571;p68"/>
          <p:cNvSpPr/>
          <p:nvPr/>
        </p:nvSpPr>
        <p:spPr>
          <a:xfrm>
            <a:off x="0" y="0"/>
            <a:ext cx="393300" cy="5143500"/>
          </a:xfrm>
          <a:prstGeom prst="rect">
            <a:avLst/>
          </a:prstGeom>
          <a:solidFill>
            <a:srgbClr val="0A1021"/>
          </a:solidFill>
          <a:ln cap="flat" cmpd="sng" w="9525">
            <a:solidFill>
              <a:srgbClr val="0A1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9"/>
          <p:cNvSpPr txBox="1"/>
          <p:nvPr>
            <p:ph idx="1" type="subTitle"/>
          </p:nvPr>
        </p:nvSpPr>
        <p:spPr>
          <a:xfrm>
            <a:off x="612050" y="925725"/>
            <a:ext cx="5930700" cy="18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User Action:</a:t>
            </a:r>
            <a:endParaRPr b="1"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/>
              <a:t>Tap habit on Dashboard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Flow: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/>
              <a:t>UI triggers repository function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/>
              <a:t>Repository processes logic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/>
              <a:t>Database updates habit_logs table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/>
              <a:t>UI reloads updated data</a:t>
            </a:r>
            <a:endParaRPr sz="15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t/>
            </a:r>
            <a:endParaRPr b="1" sz="2000"/>
          </a:p>
        </p:txBody>
      </p:sp>
      <p:sp>
        <p:nvSpPr>
          <p:cNvPr id="577" name="Google Shape;577;p69"/>
          <p:cNvSpPr txBox="1"/>
          <p:nvPr>
            <p:ph idx="3" type="title"/>
          </p:nvPr>
        </p:nvSpPr>
        <p:spPr>
          <a:xfrm>
            <a:off x="511475" y="358675"/>
            <a:ext cx="8806200" cy="5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Feature Trace: Mark Habit Complete</a:t>
            </a:r>
            <a:endParaRPr sz="2500"/>
          </a:p>
        </p:txBody>
      </p:sp>
      <p:pic>
        <p:nvPicPr>
          <p:cNvPr id="578" name="Google Shape;57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475" y="1895396"/>
            <a:ext cx="4879001" cy="3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9"/>
          <p:cNvSpPr/>
          <p:nvPr/>
        </p:nvSpPr>
        <p:spPr>
          <a:xfrm>
            <a:off x="3662225" y="2009463"/>
            <a:ext cx="4452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82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80" name="Google Shape;58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3474" y="873465"/>
            <a:ext cx="2620600" cy="89503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9"/>
          <p:cNvSpPr/>
          <p:nvPr/>
        </p:nvSpPr>
        <p:spPr>
          <a:xfrm>
            <a:off x="3354800" y="1261875"/>
            <a:ext cx="4452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82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82" name="Google Shape;582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3476" y="2368625"/>
            <a:ext cx="4353425" cy="12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69"/>
          <p:cNvSpPr/>
          <p:nvPr/>
        </p:nvSpPr>
        <p:spPr>
          <a:xfrm>
            <a:off x="3514725" y="2933050"/>
            <a:ext cx="4452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82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84" name="Google Shape;584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3476" y="3860737"/>
            <a:ext cx="2866824" cy="9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9"/>
          <p:cNvSpPr/>
          <p:nvPr/>
        </p:nvSpPr>
        <p:spPr>
          <a:xfrm>
            <a:off x="3439950" y="4273438"/>
            <a:ext cx="4452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828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0"/>
          <p:cNvSpPr/>
          <p:nvPr/>
        </p:nvSpPr>
        <p:spPr>
          <a:xfrm>
            <a:off x="4071175" y="1217725"/>
            <a:ext cx="453900" cy="363600"/>
          </a:xfrm>
          <a:prstGeom prst="ellipse">
            <a:avLst/>
          </a:prstGeom>
          <a:solidFill>
            <a:srgbClr val="B63CD1"/>
          </a:solidFill>
          <a:ln cap="flat" cmpd="sng" w="9525">
            <a:solidFill>
              <a:srgbClr val="B63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1" name="Google Shape;591;p70"/>
          <p:cNvSpPr txBox="1"/>
          <p:nvPr>
            <p:ph idx="1" type="subTitle"/>
          </p:nvPr>
        </p:nvSpPr>
        <p:spPr>
          <a:xfrm>
            <a:off x="4033150" y="724650"/>
            <a:ext cx="4089000" cy="36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Habit Creation &amp; Editing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Main Features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Create new habits with custom details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Edit existing habits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Set category, frequency, and difficulty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Add reminder times for notifications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Include notes or motivation for each habit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Enable streak shield and milestone goals</a:t>
            </a:r>
            <a:endParaRPr sz="1800"/>
          </a:p>
        </p:txBody>
      </p:sp>
      <p:pic>
        <p:nvPicPr>
          <p:cNvPr id="592" name="Google Shape;59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0"/>
            <a:ext cx="265471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70"/>
          <p:cNvSpPr/>
          <p:nvPr/>
        </p:nvSpPr>
        <p:spPr>
          <a:xfrm>
            <a:off x="2883300" y="0"/>
            <a:ext cx="271500" cy="5143500"/>
          </a:xfrm>
          <a:prstGeom prst="rect">
            <a:avLst/>
          </a:prstGeom>
          <a:solidFill>
            <a:srgbClr val="0A1021"/>
          </a:solidFill>
          <a:ln cap="flat" cmpd="sng" w="9525">
            <a:solidFill>
              <a:srgbClr val="0A1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4" name="Google Shape;594;p70"/>
          <p:cNvSpPr/>
          <p:nvPr/>
        </p:nvSpPr>
        <p:spPr>
          <a:xfrm>
            <a:off x="0" y="0"/>
            <a:ext cx="271500" cy="5143500"/>
          </a:xfrm>
          <a:prstGeom prst="rect">
            <a:avLst/>
          </a:prstGeom>
          <a:solidFill>
            <a:srgbClr val="0A1021"/>
          </a:solidFill>
          <a:ln cap="flat" cmpd="sng" w="9525">
            <a:solidFill>
              <a:srgbClr val="0A1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1"/>
          <p:cNvSpPr/>
          <p:nvPr/>
        </p:nvSpPr>
        <p:spPr>
          <a:xfrm>
            <a:off x="4071175" y="1217725"/>
            <a:ext cx="453900" cy="363600"/>
          </a:xfrm>
          <a:prstGeom prst="ellipse">
            <a:avLst/>
          </a:prstGeom>
          <a:solidFill>
            <a:srgbClr val="B63CD1"/>
          </a:solidFill>
          <a:ln cap="flat" cmpd="sng" w="9525">
            <a:solidFill>
              <a:srgbClr val="B63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00" name="Google Shape;600;p71"/>
          <p:cNvSpPr txBox="1"/>
          <p:nvPr>
            <p:ph idx="1" type="subTitle"/>
          </p:nvPr>
        </p:nvSpPr>
        <p:spPr>
          <a:xfrm>
            <a:off x="4136125" y="635875"/>
            <a:ext cx="4089000" cy="2862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Habit Details &amp; Progress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Main Features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Displays detailed habit information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Tracks current streak and consistency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Weekly completion heatmap visualization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Milestone progress toward goals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Insightful feedback based on performance</a:t>
            </a:r>
            <a:endParaRPr sz="1800"/>
          </a:p>
        </p:txBody>
      </p:sp>
      <p:pic>
        <p:nvPicPr>
          <p:cNvPr id="601" name="Google Shape;601;p71" title="Pic2.png"/>
          <p:cNvPicPr preferRelativeResize="0"/>
          <p:nvPr/>
        </p:nvPicPr>
        <p:blipFill rotWithShape="1">
          <a:blip r:embed="rId3">
            <a:alphaModFix/>
          </a:blip>
          <a:srcRect b="11526" l="0" r="0" t="11533"/>
          <a:stretch/>
        </p:blipFill>
        <p:spPr>
          <a:xfrm>
            <a:off x="0" y="0"/>
            <a:ext cx="31546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71"/>
          <p:cNvSpPr txBox="1"/>
          <p:nvPr>
            <p:ph idx="1" type="subTitle"/>
          </p:nvPr>
        </p:nvSpPr>
        <p:spPr>
          <a:xfrm>
            <a:off x="3313525" y="3653625"/>
            <a:ext cx="5734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Turning habit data into meaningful progress insights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2"/>
          <p:cNvSpPr/>
          <p:nvPr/>
        </p:nvSpPr>
        <p:spPr>
          <a:xfrm>
            <a:off x="4071175" y="1217725"/>
            <a:ext cx="453900" cy="363600"/>
          </a:xfrm>
          <a:prstGeom prst="ellipse">
            <a:avLst/>
          </a:prstGeom>
          <a:solidFill>
            <a:srgbClr val="B63CD1"/>
          </a:solidFill>
          <a:ln cap="flat" cmpd="sng" w="9525">
            <a:solidFill>
              <a:srgbClr val="B63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08" name="Google Shape;608;p72"/>
          <p:cNvSpPr txBox="1"/>
          <p:nvPr>
            <p:ph idx="1" type="subTitle"/>
          </p:nvPr>
        </p:nvSpPr>
        <p:spPr>
          <a:xfrm>
            <a:off x="4147200" y="1056225"/>
            <a:ext cx="4089000" cy="20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Statistics &amp; Insights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Main Features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Weekly habit performance tracking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Completion trends visualization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Streak leaderboard across habits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Personalized habit insights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Weekly reflection and feedback</a:t>
            </a:r>
            <a:endParaRPr sz="1800"/>
          </a:p>
        </p:txBody>
      </p:sp>
      <p:pic>
        <p:nvPicPr>
          <p:cNvPr id="609" name="Google Shape;609;p72" title="Pic7.png"/>
          <p:cNvPicPr preferRelativeResize="0"/>
          <p:nvPr/>
        </p:nvPicPr>
        <p:blipFill rotWithShape="1">
          <a:blip r:embed="rId3">
            <a:alphaModFix/>
          </a:blip>
          <a:srcRect b="12265" l="0" r="0" t="12258"/>
          <a:stretch/>
        </p:blipFill>
        <p:spPr>
          <a:xfrm>
            <a:off x="0" y="0"/>
            <a:ext cx="315465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2"/>
          <p:cNvSpPr txBox="1"/>
          <p:nvPr>
            <p:ph idx="1" type="subTitle"/>
          </p:nvPr>
        </p:nvSpPr>
        <p:spPr>
          <a:xfrm>
            <a:off x="3324600" y="3337800"/>
            <a:ext cx="5734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Data-driven insights to improve consistency and performance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3"/>
          <p:cNvSpPr txBox="1"/>
          <p:nvPr>
            <p:ph idx="4" type="title"/>
          </p:nvPr>
        </p:nvSpPr>
        <p:spPr>
          <a:xfrm>
            <a:off x="136950" y="2179050"/>
            <a:ext cx="29343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UI/UX Design &amp; Tech Stack</a:t>
            </a:r>
            <a:endParaRPr/>
          </a:p>
        </p:txBody>
      </p:sp>
      <p:sp>
        <p:nvSpPr>
          <p:cNvPr id="616" name="Google Shape;616;p73"/>
          <p:cNvSpPr txBox="1"/>
          <p:nvPr>
            <p:ph idx="1" type="subTitle"/>
          </p:nvPr>
        </p:nvSpPr>
        <p:spPr>
          <a:xfrm>
            <a:off x="3466775" y="716875"/>
            <a:ext cx="49593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UI/UX Design Approach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What was our design goal?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 focused on creating a clean, intuitive, and user-friendly interface that allows users to interact with the app with minimal friction.</a:t>
            </a:r>
            <a:endParaRPr sz="1200"/>
          </a:p>
        </p:txBody>
      </p:sp>
      <p:sp>
        <p:nvSpPr>
          <p:cNvPr id="617" name="Google Shape;617;p73"/>
          <p:cNvSpPr txBox="1"/>
          <p:nvPr>
            <p:ph idx="1" type="subTitle"/>
          </p:nvPr>
        </p:nvSpPr>
        <p:spPr>
          <a:xfrm>
            <a:off x="3466775" y="2233925"/>
            <a:ext cx="4959300" cy="14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 did we achieve this?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Simple and consistent layout across all screens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Fast and responsive interactions (one-tap actions)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Clear visual feedback for user actions (streaks, completion states)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Dark mode design for better usability and modern aesthetics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Structured navigation with a centralized dashboard</a:t>
            </a:r>
            <a:endParaRPr sz="1300"/>
          </a:p>
        </p:txBody>
      </p:sp>
      <p:sp>
        <p:nvSpPr>
          <p:cNvPr id="618" name="Google Shape;618;p73"/>
          <p:cNvSpPr txBox="1"/>
          <p:nvPr>
            <p:ph idx="1" type="subTitle"/>
          </p:nvPr>
        </p:nvSpPr>
        <p:spPr>
          <a:xfrm>
            <a:off x="3364775" y="3680825"/>
            <a:ext cx="49593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Tech Stack Used</a:t>
            </a:r>
            <a:endParaRPr b="1" sz="2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Framework: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Flutter (cross-platform UI development)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Language: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Dart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Database: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SQLite (local data persistence)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State Management: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(Provider / setState — use whichever you used)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Storage: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Local device storage for offline access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4"/>
          <p:cNvSpPr txBox="1"/>
          <p:nvPr>
            <p:ph idx="2" type="title"/>
          </p:nvPr>
        </p:nvSpPr>
        <p:spPr>
          <a:xfrm>
            <a:off x="215850" y="704000"/>
            <a:ext cx="8806200" cy="5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State Management</a:t>
            </a:r>
            <a:endParaRPr sz="2500"/>
          </a:p>
        </p:txBody>
      </p:sp>
      <p:sp>
        <p:nvSpPr>
          <p:cNvPr id="624" name="Google Shape;624;p74"/>
          <p:cNvSpPr txBox="1"/>
          <p:nvPr>
            <p:ph idx="4294967295" type="subTitle"/>
          </p:nvPr>
        </p:nvSpPr>
        <p:spPr>
          <a:xfrm>
            <a:off x="564800" y="1735700"/>
            <a:ext cx="5930700" cy="237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Approach:</a:t>
            </a:r>
            <a:endParaRPr b="1" sz="15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Used setState for UI updates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Why:</a:t>
            </a:r>
            <a:endParaRPr b="1" sz="15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Simple and efficient for app scale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State is localized to screens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Behavior:</a:t>
            </a:r>
            <a:endParaRPr b="1" sz="15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UI rebuilds after data changes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/>
              <a:t>Reflects updated completion and streaks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5"/>
          <p:cNvSpPr/>
          <p:nvPr/>
        </p:nvSpPr>
        <p:spPr>
          <a:xfrm>
            <a:off x="723750" y="1451425"/>
            <a:ext cx="4792200" cy="26835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0" name="Google Shape;630;p75"/>
          <p:cNvSpPr txBox="1"/>
          <p:nvPr>
            <p:ph idx="3" type="title"/>
          </p:nvPr>
        </p:nvSpPr>
        <p:spPr>
          <a:xfrm>
            <a:off x="228600" y="393575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 Integrity</a:t>
            </a:r>
            <a:endParaRPr sz="2500"/>
          </a:p>
        </p:txBody>
      </p:sp>
      <p:sp>
        <p:nvSpPr>
          <p:cNvPr id="631" name="Google Shape;631;p75"/>
          <p:cNvSpPr txBox="1"/>
          <p:nvPr>
            <p:ph idx="1" type="body"/>
          </p:nvPr>
        </p:nvSpPr>
        <p:spPr>
          <a:xfrm>
            <a:off x="1133300" y="2150375"/>
            <a:ext cx="4070700" cy="15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09550" lvl="0" marL="285750" rtl="0" algn="l">
              <a:spcBef>
                <a:spcPts val="0"/>
              </a:spcBef>
              <a:spcAft>
                <a:spcPts val="0"/>
              </a:spcAft>
              <a:buSzPts val="1500"/>
              <a:buChar char="⟶"/>
            </a:pPr>
            <a:r>
              <a:rPr lang="en" sz="1500"/>
              <a:t>Prevent duplicate habit completions</a:t>
            </a:r>
            <a:endParaRPr sz="1500"/>
          </a:p>
          <a:p>
            <a:pPr indent="-209550" lvl="0" marL="285750" rtl="0" algn="l">
              <a:spcBef>
                <a:spcPts val="1000"/>
              </a:spcBef>
              <a:spcAft>
                <a:spcPts val="0"/>
              </a:spcAft>
              <a:buSzPts val="1500"/>
              <a:buChar char="⟶"/>
            </a:pPr>
            <a:r>
              <a:rPr lang="en" sz="1500"/>
              <a:t>UNIQUE(habit_id, log_date) constraint</a:t>
            </a:r>
            <a:r>
              <a:rPr lang="en" sz="1500"/>
              <a:t> 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⟶"/>
            </a:pPr>
            <a:r>
              <a:rPr lang="en" sz="1500"/>
              <a:t>Input validation (e.g., empty habit name)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⟶"/>
            </a:pPr>
            <a:r>
              <a:rPr lang="en" sz="1500"/>
              <a:t>Boolean values stored as integers (0 or 1)</a:t>
            </a:r>
            <a:endParaRPr sz="1500"/>
          </a:p>
        </p:txBody>
      </p:sp>
      <p:sp>
        <p:nvSpPr>
          <p:cNvPr id="632" name="Google Shape;632;p75"/>
          <p:cNvSpPr txBox="1"/>
          <p:nvPr>
            <p:ph idx="4" type="subTitle"/>
          </p:nvPr>
        </p:nvSpPr>
        <p:spPr>
          <a:xfrm>
            <a:off x="909575" y="1718675"/>
            <a:ext cx="3189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000"/>
              <a:t>Data Integrity Measures: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6"/>
          <p:cNvSpPr txBox="1"/>
          <p:nvPr>
            <p:ph idx="1" type="body"/>
          </p:nvPr>
        </p:nvSpPr>
        <p:spPr>
          <a:xfrm>
            <a:off x="283400" y="1756825"/>
            <a:ext cx="4012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Habit completions appeared under incorrect weekdays</a:t>
            </a:r>
            <a:endParaRPr sz="1300"/>
          </a:p>
        </p:txBody>
      </p:sp>
      <p:sp>
        <p:nvSpPr>
          <p:cNvPr id="638" name="Google Shape;638;p76"/>
          <p:cNvSpPr txBox="1"/>
          <p:nvPr>
            <p:ph idx="2" type="body"/>
          </p:nvPr>
        </p:nvSpPr>
        <p:spPr>
          <a:xfrm>
            <a:off x="283400" y="3997588"/>
            <a:ext cx="4012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UI labels were hardcoded (Mon–Sun)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Data used rolling 7-day range from current date</a:t>
            </a:r>
            <a:endParaRPr sz="1300"/>
          </a:p>
        </p:txBody>
      </p:sp>
      <p:sp>
        <p:nvSpPr>
          <p:cNvPr id="639" name="Google Shape;639;p76"/>
          <p:cNvSpPr txBox="1"/>
          <p:nvPr>
            <p:ph idx="5" type="title"/>
          </p:nvPr>
        </p:nvSpPr>
        <p:spPr>
          <a:xfrm>
            <a:off x="534575" y="47588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Bug &amp; Fix</a:t>
            </a:r>
            <a:endParaRPr sz="5000"/>
          </a:p>
        </p:txBody>
      </p:sp>
      <p:sp>
        <p:nvSpPr>
          <p:cNvPr id="640" name="Google Shape;640;p76"/>
          <p:cNvSpPr txBox="1"/>
          <p:nvPr>
            <p:ph idx="7" type="body"/>
          </p:nvPr>
        </p:nvSpPr>
        <p:spPr>
          <a:xfrm>
            <a:off x="4837725" y="1463188"/>
            <a:ext cx="3681600" cy="6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Generated dynamic weekday labels from same date logic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Aligned UI with repository date calculations</a:t>
            </a:r>
            <a:endParaRPr sz="1300"/>
          </a:p>
        </p:txBody>
      </p:sp>
      <p:sp>
        <p:nvSpPr>
          <p:cNvPr id="641" name="Google Shape;641;p76"/>
          <p:cNvSpPr txBox="1"/>
          <p:nvPr>
            <p:ph idx="8" type="subTitle"/>
          </p:nvPr>
        </p:nvSpPr>
        <p:spPr>
          <a:xfrm>
            <a:off x="4837725" y="1152313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Fix</a:t>
            </a:r>
            <a:endParaRPr sz="2000"/>
          </a:p>
        </p:txBody>
      </p:sp>
      <p:sp>
        <p:nvSpPr>
          <p:cNvPr id="642" name="Google Shape;642;p76"/>
          <p:cNvSpPr txBox="1"/>
          <p:nvPr>
            <p:ph idx="9" type="subTitle"/>
          </p:nvPr>
        </p:nvSpPr>
        <p:spPr>
          <a:xfrm>
            <a:off x="283400" y="3686713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Cause</a:t>
            </a:r>
            <a:endParaRPr sz="2000"/>
          </a:p>
        </p:txBody>
      </p:sp>
      <p:sp>
        <p:nvSpPr>
          <p:cNvPr id="643" name="Google Shape;643;p76"/>
          <p:cNvSpPr txBox="1"/>
          <p:nvPr>
            <p:ph idx="13" type="subTitle"/>
          </p:nvPr>
        </p:nvSpPr>
        <p:spPr>
          <a:xfrm>
            <a:off x="283400" y="144595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Bug</a:t>
            </a:r>
            <a:endParaRPr sz="2000"/>
          </a:p>
        </p:txBody>
      </p:sp>
      <p:sp>
        <p:nvSpPr>
          <p:cNvPr id="644" name="Google Shape;644;p76"/>
          <p:cNvSpPr txBox="1"/>
          <p:nvPr>
            <p:ph idx="8" type="subTitle"/>
          </p:nvPr>
        </p:nvSpPr>
        <p:spPr>
          <a:xfrm>
            <a:off x="1019375" y="910113"/>
            <a:ext cx="27120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 Misalignment</a:t>
            </a:r>
            <a:endParaRPr/>
          </a:p>
        </p:txBody>
      </p:sp>
      <p:pic>
        <p:nvPicPr>
          <p:cNvPr id="645" name="Google Shape;64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650" y="2484795"/>
            <a:ext cx="2378700" cy="877943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76"/>
          <p:cNvSpPr txBox="1"/>
          <p:nvPr>
            <p:ph idx="1" type="body"/>
          </p:nvPr>
        </p:nvSpPr>
        <p:spPr>
          <a:xfrm>
            <a:off x="4837725" y="539475"/>
            <a:ext cx="4012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Adjusting UI display without fixing date logic mismatch</a:t>
            </a:r>
            <a:endParaRPr sz="1300"/>
          </a:p>
        </p:txBody>
      </p:sp>
      <p:sp>
        <p:nvSpPr>
          <p:cNvPr id="647" name="Google Shape;647;p76"/>
          <p:cNvSpPr txBox="1"/>
          <p:nvPr>
            <p:ph idx="13" type="subTitle"/>
          </p:nvPr>
        </p:nvSpPr>
        <p:spPr>
          <a:xfrm>
            <a:off x="4837725" y="2286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Failed Approach</a:t>
            </a:r>
            <a:endParaRPr sz="2000"/>
          </a:p>
        </p:txBody>
      </p:sp>
      <p:sp>
        <p:nvSpPr>
          <p:cNvPr id="648" name="Google Shape;648;p76"/>
          <p:cNvSpPr txBox="1"/>
          <p:nvPr>
            <p:ph idx="8" type="subTitle"/>
          </p:nvPr>
        </p:nvSpPr>
        <p:spPr>
          <a:xfrm>
            <a:off x="749650" y="2248513"/>
            <a:ext cx="27120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Monday - 23rd</a:t>
            </a:r>
            <a:endParaRPr/>
          </a:p>
        </p:txBody>
      </p:sp>
      <p:sp>
        <p:nvSpPr>
          <p:cNvPr id="649" name="Google Shape;649;p76"/>
          <p:cNvSpPr txBox="1"/>
          <p:nvPr>
            <p:ph idx="7" type="body"/>
          </p:nvPr>
        </p:nvSpPr>
        <p:spPr>
          <a:xfrm>
            <a:off x="4837725" y="2559400"/>
            <a:ext cx="3681600" cy="6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Heatmap correctly reflects actual completion days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50" name="Google Shape;650;p76"/>
          <p:cNvSpPr txBox="1"/>
          <p:nvPr>
            <p:ph idx="8" type="subTitle"/>
          </p:nvPr>
        </p:nvSpPr>
        <p:spPr>
          <a:xfrm>
            <a:off x="4837725" y="224852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Result</a:t>
            </a:r>
            <a:endParaRPr sz="2000"/>
          </a:p>
        </p:txBody>
      </p:sp>
      <p:pic>
        <p:nvPicPr>
          <p:cNvPr id="651" name="Google Shape;65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7825" y="3219689"/>
            <a:ext cx="2378700" cy="853312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76"/>
          <p:cNvSpPr txBox="1"/>
          <p:nvPr>
            <p:ph idx="8" type="subTitle"/>
          </p:nvPr>
        </p:nvSpPr>
        <p:spPr>
          <a:xfrm>
            <a:off x="5277825" y="2985275"/>
            <a:ext cx="27120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Monday - 23rd</a:t>
            </a:r>
            <a:endParaRPr/>
          </a:p>
        </p:txBody>
      </p:sp>
      <p:pic>
        <p:nvPicPr>
          <p:cNvPr id="653" name="Google Shape;65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7736" y="4122632"/>
            <a:ext cx="3877015" cy="8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7"/>
          <p:cNvSpPr/>
          <p:nvPr/>
        </p:nvSpPr>
        <p:spPr>
          <a:xfrm>
            <a:off x="233450" y="1282988"/>
            <a:ext cx="2778600" cy="21957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28588" rotWithShape="0" algn="bl">
              <a:schemeClr val="lt2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659" name="Google Shape;659;p77"/>
          <p:cNvSpPr/>
          <p:nvPr/>
        </p:nvSpPr>
        <p:spPr>
          <a:xfrm>
            <a:off x="6259200" y="1505175"/>
            <a:ext cx="2697000" cy="19131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28588" rotWithShape="0" algn="bl">
              <a:schemeClr val="lt2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660" name="Google Shape;660;p77"/>
          <p:cNvSpPr/>
          <p:nvPr/>
        </p:nvSpPr>
        <p:spPr>
          <a:xfrm>
            <a:off x="3258875" y="1238000"/>
            <a:ext cx="2697000" cy="22407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28588" rotWithShape="0" algn="bl">
              <a:schemeClr val="lt2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661" name="Google Shape;661;p77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Team Collaboration</a:t>
            </a:r>
            <a:endParaRPr sz="2500"/>
          </a:p>
        </p:txBody>
      </p:sp>
      <p:sp>
        <p:nvSpPr>
          <p:cNvPr id="662" name="Google Shape;662;p77"/>
          <p:cNvSpPr txBox="1"/>
          <p:nvPr>
            <p:ph idx="1" type="subTitle"/>
          </p:nvPr>
        </p:nvSpPr>
        <p:spPr>
          <a:xfrm>
            <a:off x="481975" y="1505163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Role Division:</a:t>
            </a:r>
            <a:endParaRPr b="1" sz="2000"/>
          </a:p>
        </p:txBody>
      </p:sp>
      <p:sp>
        <p:nvSpPr>
          <p:cNvPr id="663" name="Google Shape;663;p77"/>
          <p:cNvSpPr txBox="1"/>
          <p:nvPr>
            <p:ph idx="4" type="body"/>
          </p:nvPr>
        </p:nvSpPr>
        <p:spPr>
          <a:xfrm>
            <a:off x="481975" y="1984475"/>
            <a:ext cx="2281500" cy="16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Raiyan - UI &amp; Navigation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/>
              <a:t>Trajuan - Database &amp; Application Logic</a:t>
            </a:r>
            <a:endParaRPr sz="1200"/>
          </a:p>
        </p:txBody>
      </p:sp>
      <p:sp>
        <p:nvSpPr>
          <p:cNvPr id="664" name="Google Shape;664;p77"/>
          <p:cNvSpPr txBox="1"/>
          <p:nvPr>
            <p:ph idx="5" type="subTitle"/>
          </p:nvPr>
        </p:nvSpPr>
        <p:spPr>
          <a:xfrm>
            <a:off x="3507375" y="1460175"/>
            <a:ext cx="25050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000"/>
              <a:t>Workflow: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665" name="Google Shape;665;p77"/>
          <p:cNvSpPr txBox="1"/>
          <p:nvPr>
            <p:ph idx="7" type="subTitle"/>
          </p:nvPr>
        </p:nvSpPr>
        <p:spPr>
          <a:xfrm>
            <a:off x="6503075" y="1727350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000"/>
              <a:t>Outcome: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666" name="Google Shape;666;p77"/>
          <p:cNvSpPr txBox="1"/>
          <p:nvPr>
            <p:ph idx="4" type="body"/>
          </p:nvPr>
        </p:nvSpPr>
        <p:spPr>
          <a:xfrm>
            <a:off x="6439650" y="2221825"/>
            <a:ext cx="2281500" cy="13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⟶"/>
            </a:pPr>
            <a:r>
              <a:rPr lang="en" sz="1200"/>
              <a:t>Clear ownership of components</a:t>
            </a:r>
            <a:endParaRPr sz="12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&amp;</a:t>
            </a:r>
            <a:endParaRPr sz="1200"/>
          </a:p>
          <a:p>
            <a:pPr indent="-190500" lvl="0" marL="285750" rtl="0" algn="l">
              <a:spcBef>
                <a:spcPts val="1000"/>
              </a:spcBef>
              <a:spcAft>
                <a:spcPts val="1000"/>
              </a:spcAft>
              <a:buSzPts val="1200"/>
              <a:buChar char="⟶"/>
            </a:pPr>
            <a:r>
              <a:rPr lang="en" sz="1200"/>
              <a:t>Efficient development process</a:t>
            </a:r>
            <a:endParaRPr sz="1200"/>
          </a:p>
        </p:txBody>
      </p:sp>
      <p:sp>
        <p:nvSpPr>
          <p:cNvPr id="667" name="Google Shape;667;p77"/>
          <p:cNvSpPr txBox="1"/>
          <p:nvPr>
            <p:ph idx="4" type="body"/>
          </p:nvPr>
        </p:nvSpPr>
        <p:spPr>
          <a:xfrm>
            <a:off x="3460450" y="1948475"/>
            <a:ext cx="2281500" cy="13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285750" rtl="0" algn="l">
              <a:spcBef>
                <a:spcPts val="0"/>
              </a:spcBef>
              <a:spcAft>
                <a:spcPts val="0"/>
              </a:spcAft>
              <a:buSzPts val="1200"/>
              <a:buChar char="⟶"/>
            </a:pPr>
            <a:r>
              <a:rPr lang="en" sz="1200"/>
              <a:t>Separated responsibilities by layer</a:t>
            </a:r>
            <a:endParaRPr sz="1200"/>
          </a:p>
          <a:p>
            <a:pPr indent="-190500" lvl="0" marL="285750" rtl="0" algn="l">
              <a:spcBef>
                <a:spcPts val="1000"/>
              </a:spcBef>
              <a:spcAft>
                <a:spcPts val="0"/>
              </a:spcAft>
              <a:buSzPts val="1200"/>
              <a:buChar char="⟶"/>
            </a:pPr>
            <a:r>
              <a:rPr lang="en" sz="1200"/>
              <a:t>Integrated features through shared repository</a:t>
            </a:r>
            <a:endParaRPr sz="1200"/>
          </a:p>
          <a:p>
            <a:pPr indent="-190500" lvl="0" marL="285750" rtl="0" algn="l">
              <a:spcBef>
                <a:spcPts val="1000"/>
              </a:spcBef>
              <a:spcAft>
                <a:spcPts val="1000"/>
              </a:spcAft>
              <a:buSzPts val="1200"/>
              <a:buChar char="⟶"/>
            </a:pPr>
            <a:r>
              <a:rPr lang="en" sz="1200"/>
              <a:t>Tested features after integration</a:t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8"/>
          <p:cNvSpPr/>
          <p:nvPr/>
        </p:nvSpPr>
        <p:spPr>
          <a:xfrm>
            <a:off x="1302525" y="1406525"/>
            <a:ext cx="3008400" cy="22110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673" name="Google Shape;673;p78"/>
          <p:cNvSpPr txBox="1"/>
          <p:nvPr>
            <p:ph idx="17" type="title"/>
          </p:nvPr>
        </p:nvSpPr>
        <p:spPr>
          <a:xfrm>
            <a:off x="228600" y="457200"/>
            <a:ext cx="51300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Development-Cycle Improvement</a:t>
            </a:r>
            <a:endParaRPr sz="2500"/>
          </a:p>
        </p:txBody>
      </p:sp>
      <p:sp>
        <p:nvSpPr>
          <p:cNvPr id="674" name="Google Shape;674;p78"/>
          <p:cNvSpPr txBox="1"/>
          <p:nvPr>
            <p:ph idx="3" type="body"/>
          </p:nvPr>
        </p:nvSpPr>
        <p:spPr>
          <a:xfrm>
            <a:off x="1437400" y="1621100"/>
            <a:ext cx="2736300" cy="19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Priority:</a:t>
            </a:r>
            <a:r>
              <a:rPr lang="en" sz="1400"/>
              <a:t>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Improve testing and validation process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Why: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Catch UI–data mismatches earlier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Prevent bugs like heatmap misalignment</a:t>
            </a:r>
            <a:endParaRPr sz="1400"/>
          </a:p>
        </p:txBody>
      </p:sp>
      <p:sp>
        <p:nvSpPr>
          <p:cNvPr id="675" name="Google Shape;675;p78"/>
          <p:cNvSpPr/>
          <p:nvPr/>
        </p:nvSpPr>
        <p:spPr>
          <a:xfrm>
            <a:off x="4619950" y="1533700"/>
            <a:ext cx="2833200" cy="23754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676" name="Google Shape;676;p78"/>
          <p:cNvSpPr txBox="1"/>
          <p:nvPr>
            <p:ph idx="4" type="body"/>
          </p:nvPr>
        </p:nvSpPr>
        <p:spPr>
          <a:xfrm>
            <a:off x="4762000" y="1683325"/>
            <a:ext cx="2370000" cy="25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Approach: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Add structured testing for date-based features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Validate UI against repository data logic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Impact: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More reliable features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Faster debugging and iteration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9"/>
          <p:cNvSpPr txBox="1"/>
          <p:nvPr>
            <p:ph idx="3" type="title"/>
          </p:nvPr>
        </p:nvSpPr>
        <p:spPr>
          <a:xfrm>
            <a:off x="228600" y="457200"/>
            <a:ext cx="47637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Conclusion</a:t>
            </a:r>
            <a:endParaRPr sz="2500"/>
          </a:p>
        </p:txBody>
      </p:sp>
      <p:sp>
        <p:nvSpPr>
          <p:cNvPr id="682" name="Google Shape;682;p79"/>
          <p:cNvSpPr txBox="1"/>
          <p:nvPr>
            <p:ph idx="14" type="subTitle"/>
          </p:nvPr>
        </p:nvSpPr>
        <p:spPr>
          <a:xfrm>
            <a:off x="751050" y="2673225"/>
            <a:ext cx="16071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Full-stack mobile application development</a:t>
            </a:r>
            <a:endParaRPr sz="1400"/>
          </a:p>
        </p:txBody>
      </p:sp>
      <p:sp>
        <p:nvSpPr>
          <p:cNvPr id="683" name="Google Shape;683;p79"/>
          <p:cNvSpPr txBox="1"/>
          <p:nvPr>
            <p:ph idx="15" type="subTitle"/>
          </p:nvPr>
        </p:nvSpPr>
        <p:spPr>
          <a:xfrm>
            <a:off x="752525" y="209977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#1</a:t>
            </a:r>
            <a:endParaRPr/>
          </a:p>
        </p:txBody>
      </p:sp>
      <p:sp>
        <p:nvSpPr>
          <p:cNvPr id="684" name="Google Shape;684;p79"/>
          <p:cNvSpPr txBox="1"/>
          <p:nvPr>
            <p:ph idx="16" type="subTitle"/>
          </p:nvPr>
        </p:nvSpPr>
        <p:spPr>
          <a:xfrm>
            <a:off x="3881250" y="2673225"/>
            <a:ext cx="28329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Local data persistence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(SQLite &amp; SharedPreferences)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85" name="Google Shape;685;p79"/>
          <p:cNvSpPr txBox="1"/>
          <p:nvPr>
            <p:ph idx="17" type="subTitle"/>
          </p:nvPr>
        </p:nvSpPr>
        <p:spPr>
          <a:xfrm>
            <a:off x="3882713" y="209977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#2</a:t>
            </a:r>
            <a:endParaRPr/>
          </a:p>
        </p:txBody>
      </p:sp>
      <p:sp>
        <p:nvSpPr>
          <p:cNvPr id="686" name="Google Shape;686;p79"/>
          <p:cNvSpPr txBox="1"/>
          <p:nvPr>
            <p:ph idx="20" type="subTitle"/>
          </p:nvPr>
        </p:nvSpPr>
        <p:spPr>
          <a:xfrm>
            <a:off x="230075" y="1743438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app demonstrates…</a:t>
            </a:r>
            <a:endParaRPr/>
          </a:p>
        </p:txBody>
      </p:sp>
      <p:sp>
        <p:nvSpPr>
          <p:cNvPr id="687" name="Google Shape;687;p79"/>
          <p:cNvSpPr txBox="1"/>
          <p:nvPr>
            <p:ph idx="16" type="subTitle"/>
          </p:nvPr>
        </p:nvSpPr>
        <p:spPr>
          <a:xfrm>
            <a:off x="751050" y="4152400"/>
            <a:ext cx="28329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Clean layered architecture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design</a:t>
            </a:r>
            <a:endParaRPr sz="1400"/>
          </a:p>
        </p:txBody>
      </p:sp>
      <p:sp>
        <p:nvSpPr>
          <p:cNvPr id="688" name="Google Shape;688;p79"/>
          <p:cNvSpPr txBox="1"/>
          <p:nvPr>
            <p:ph idx="17" type="subTitle"/>
          </p:nvPr>
        </p:nvSpPr>
        <p:spPr>
          <a:xfrm>
            <a:off x="752513" y="3578949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#3</a:t>
            </a:r>
            <a:endParaRPr/>
          </a:p>
        </p:txBody>
      </p:sp>
      <p:sp>
        <p:nvSpPr>
          <p:cNvPr id="689" name="Google Shape;689;p79"/>
          <p:cNvSpPr txBox="1"/>
          <p:nvPr>
            <p:ph idx="16" type="subTitle"/>
          </p:nvPr>
        </p:nvSpPr>
        <p:spPr>
          <a:xfrm>
            <a:off x="3881250" y="4152400"/>
            <a:ext cx="28329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User-focused design</a:t>
            </a:r>
            <a:endParaRPr sz="1400"/>
          </a:p>
        </p:txBody>
      </p:sp>
      <p:sp>
        <p:nvSpPr>
          <p:cNvPr id="690" name="Google Shape;690;p79"/>
          <p:cNvSpPr txBox="1"/>
          <p:nvPr>
            <p:ph idx="17" type="subTitle"/>
          </p:nvPr>
        </p:nvSpPr>
        <p:spPr>
          <a:xfrm>
            <a:off x="3882713" y="3578949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0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96" name="Google Shape;696;p80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